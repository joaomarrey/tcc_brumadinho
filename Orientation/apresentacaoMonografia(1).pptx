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577bWTDCqO3KxxzxT77dKwt3U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claudiolucinda@usp.b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ruel@usp.b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laudiolucinda@usp.br" TargetMode="External"/><Relationship Id="rId4" Type="http://schemas.openxmlformats.org/officeDocument/2006/relationships/hyperlink" Target="mailto:monografiaeae@gmail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ruel@usp.b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laudiolucinda@usp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96568" y="3071686"/>
            <a:ext cx="9144000" cy="257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Procedimentos e Normas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Professor Rafael Pucci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Coordenador de Monografia do Departamento de Economia</a:t>
            </a: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132854" y="1573085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Monografia</a:t>
            </a:r>
            <a:endParaRPr/>
          </a:p>
        </p:txBody>
      </p:sp>
      <p:cxnSp>
        <p:nvCxnSpPr>
          <p:cNvPr id="86" name="Google Shape;86;p1"/>
          <p:cNvCxnSpPr/>
          <p:nvPr/>
        </p:nvCxnSpPr>
        <p:spPr>
          <a:xfrm>
            <a:off x="1719072" y="2898648"/>
            <a:ext cx="8604504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Informações gerais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1526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A Monografia…</a:t>
            </a:r>
            <a:endParaRPr dirty="0"/>
          </a:p>
          <a:p>
            <a:pPr marL="2286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685800" lvl="1" indent="-25209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pt-BR" dirty="0"/>
              <a:t>Constitui atividade curricular obrigatória do curso de graduação em Economia;</a:t>
            </a:r>
            <a:endParaRPr dirty="0"/>
          </a:p>
          <a:p>
            <a:pPr marL="685800" lvl="1" indent="-252094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pt-BR" dirty="0"/>
              <a:t>Deve evidenciar a capacidade do aluno de manipular corretamente teorias e conceitos econômicos aplicados a um problema científico de natureza econômica;</a:t>
            </a:r>
            <a:endParaRPr dirty="0"/>
          </a:p>
          <a:p>
            <a:pPr marL="685800" lvl="1" indent="-252094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pt-BR" dirty="0"/>
              <a:t>Não pode ser </a:t>
            </a:r>
            <a:r>
              <a:rPr lang="pt-BR" dirty="0" err="1"/>
              <a:t>co-autorada</a:t>
            </a:r>
            <a:r>
              <a:rPr lang="pt-BR" dirty="0"/>
              <a:t> e deve ser realizada sob orientação de um professor do Departamento de Economia;</a:t>
            </a:r>
            <a:endParaRPr dirty="0"/>
          </a:p>
          <a:p>
            <a:pPr marL="685800" lvl="1" indent="-252094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pt-BR" dirty="0"/>
              <a:t>Deve constituir um trabalho inédito de pesquisa na área de Economia, de caráter teórico e/ou empírico;</a:t>
            </a:r>
            <a:endParaRPr dirty="0"/>
          </a:p>
          <a:p>
            <a:pPr marL="685800" lvl="1" indent="-252094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pt-BR" dirty="0"/>
              <a:t>Poderá ser escrita em português ou inglês, respeitadas as normas gramaticais de cada idioma.</a:t>
            </a:r>
            <a:endParaRPr dirty="0"/>
          </a:p>
          <a:p>
            <a:pPr marL="22860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215265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A aprovação final da Monografia será realizada por Banca Examinadora designada pelo Coordenador de Monografia.</a:t>
            </a:r>
            <a:endParaRPr dirty="0"/>
          </a:p>
        </p:txBody>
      </p:sp>
      <p:cxnSp>
        <p:nvCxnSpPr>
          <p:cNvPr id="93" name="Google Shape;93;p2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São papéis da coordenação de monografia:</a:t>
            </a:r>
            <a:endParaRPr dirty="0"/>
          </a:p>
          <a:p>
            <a:pPr marL="971550" lvl="1" indent="-5016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pt-BR" sz="2200" dirty="0"/>
              <a:t>Garantir o cumprimento das normas constantes no Regulamento de Monografia;</a:t>
            </a:r>
            <a:endParaRPr sz="2200" dirty="0"/>
          </a:p>
          <a:p>
            <a:pPr marL="971550" lvl="1" indent="-5016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pt-BR" sz="2200" dirty="0"/>
              <a:t>Elaborar e divulgar o calendário de trabalho de cada semestre;</a:t>
            </a:r>
            <a:endParaRPr sz="2200" dirty="0"/>
          </a:p>
          <a:p>
            <a:pPr marL="971550" lvl="1" indent="-5016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pt-BR" sz="2200" dirty="0"/>
              <a:t>Designar as bancas para avaliação;</a:t>
            </a:r>
            <a:endParaRPr sz="2200" dirty="0"/>
          </a:p>
          <a:p>
            <a:pPr marL="971550" lvl="1" indent="-5016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pt-BR" sz="2200" dirty="0"/>
              <a:t>Consolidar os resultados para lançamento no Jupiter.</a:t>
            </a:r>
            <a:endParaRPr sz="2200" dirty="0"/>
          </a:p>
        </p:txBody>
      </p:sp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Coordenação</a:t>
            </a:r>
            <a:endParaRPr/>
          </a:p>
        </p:txBody>
      </p:sp>
      <p:cxnSp>
        <p:nvCxnSpPr>
          <p:cNvPr id="100" name="Google Shape;100;p3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44617" y="1690687"/>
            <a:ext cx="11409027" cy="474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1526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Toda a gestão das monografias (indicação de orientador, entrega intermediária e entrega final) é feita pelo sistema da FEA.</a:t>
            </a:r>
            <a:endParaRPr dirty="0"/>
          </a:p>
          <a:p>
            <a:pPr marL="228600" lvl="0" indent="-774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1526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O Moodle nesta disciplina tem como única função centralizar materiais sobre o tema (dicas sobre como tornar a monografia anônima, como gerar relatório de similaridade, </a:t>
            </a:r>
            <a:r>
              <a:rPr lang="pt-BR" dirty="0" err="1"/>
              <a:t>etc</a:t>
            </a:r>
            <a:r>
              <a:rPr lang="pt-BR" dirty="0"/>
              <a:t>).</a:t>
            </a:r>
            <a:endParaRPr dirty="0"/>
          </a:p>
          <a:p>
            <a:pPr marL="228600" lvl="0" indent="-7747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15265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A lista de alunos no sistema da FEA é alimentada a partir do Jupiter.</a:t>
            </a:r>
            <a:endParaRPr dirty="0"/>
          </a:p>
          <a:p>
            <a:pPr marL="228600" lvl="0" indent="-774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15265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Atrasos na matrícula podem impactar o acesso ao sistema. Se for seu caso, escreva para </a:t>
            </a:r>
            <a:r>
              <a:rPr lang="pt-BR" u="sng" dirty="0">
                <a:solidFill>
                  <a:schemeClr val="hlink"/>
                </a:solidFill>
              </a:rPr>
              <a:t>monografiaeae@usp.br</a:t>
            </a:r>
            <a:r>
              <a:rPr lang="pt-BR" dirty="0"/>
              <a:t> </a:t>
            </a:r>
            <a:r>
              <a:rPr lang="pt-BR" b="1" dirty="0"/>
              <a:t>com cópia</a:t>
            </a:r>
            <a:r>
              <a:rPr lang="pt-BR" dirty="0"/>
              <a:t> para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rafael.pucci@usp.br</a:t>
            </a:r>
            <a:r>
              <a:rPr lang="pt-BR" dirty="0"/>
              <a:t> para que seu acesso seja normalizado.</a:t>
            </a:r>
            <a:endParaRPr dirty="0"/>
          </a:p>
          <a:p>
            <a:pPr marL="228600" lvl="0" indent="-7747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Sistema e Gestão das Monografias</a:t>
            </a:r>
            <a:endParaRPr/>
          </a:p>
        </p:txBody>
      </p:sp>
      <p:cxnSp>
        <p:nvCxnSpPr>
          <p:cNvPr id="107" name="Google Shape;107;p4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319350" y="1724474"/>
            <a:ext cx="1298713" cy="612648"/>
          </a:xfrm>
          <a:prstGeom prst="flowChartAlternateProcess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844412" y="4410790"/>
            <a:ext cx="1298713" cy="612648"/>
          </a:xfrm>
          <a:prstGeom prst="flowChartAlternateProcess">
            <a:avLst/>
          </a:prstGeom>
          <a:solidFill>
            <a:srgbClr val="54813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Orientador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606610" y="4410006"/>
            <a:ext cx="1378664" cy="612648"/>
          </a:xfrm>
          <a:prstGeom prst="flowChartAlternateProcess">
            <a:avLst/>
          </a:prstGeom>
          <a:solidFill>
            <a:srgbClr val="FF00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Coordenação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837314" y="4389672"/>
            <a:ext cx="1775793" cy="612648"/>
          </a:xfrm>
          <a:prstGeom prst="flowChartAlternateProcess">
            <a:avLst/>
          </a:prstGeom>
          <a:solidFill>
            <a:srgbClr val="7030A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Banca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883673" y="2769914"/>
            <a:ext cx="1309648" cy="939128"/>
          </a:xfrm>
          <a:prstGeom prst="diamond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Reprova</a:t>
            </a:r>
            <a:endParaRPr/>
          </a:p>
        </p:txBody>
      </p:sp>
      <p:cxnSp>
        <p:nvCxnSpPr>
          <p:cNvPr id="117" name="Google Shape;117;p5"/>
          <p:cNvCxnSpPr/>
          <p:nvPr/>
        </p:nvCxnSpPr>
        <p:spPr>
          <a:xfrm>
            <a:off x="948827" y="2436988"/>
            <a:ext cx="0" cy="5446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5"/>
          <p:cNvCxnSpPr/>
          <p:nvPr/>
        </p:nvCxnSpPr>
        <p:spPr>
          <a:xfrm rot="5400000" flipH="1">
            <a:off x="1253704" y="2453677"/>
            <a:ext cx="1365900" cy="520200"/>
          </a:xfrm>
          <a:prstGeom prst="bentConnector3">
            <a:avLst>
              <a:gd name="adj1" fmla="val 99135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9" name="Google Shape;119;p5"/>
          <p:cNvSpPr txBox="1"/>
          <p:nvPr/>
        </p:nvSpPr>
        <p:spPr>
          <a:xfrm>
            <a:off x="5846428" y="4408241"/>
            <a:ext cx="2240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final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836807" y="2412613"/>
            <a:ext cx="10999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 orientador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8311657" y="4194308"/>
            <a:ext cx="217666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 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banca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99471" y="3122676"/>
            <a:ext cx="1298713" cy="612648"/>
          </a:xfrm>
          <a:prstGeom prst="flowChartAlternateProcess">
            <a:avLst/>
          </a:prstGeom>
          <a:solidFill>
            <a:srgbClr val="548135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Orientador</a:t>
            </a:r>
            <a:endParaRPr/>
          </a:p>
        </p:txBody>
      </p:sp>
      <p:cxnSp>
        <p:nvCxnSpPr>
          <p:cNvPr id="123" name="Google Shape;123;p5"/>
          <p:cNvCxnSpPr/>
          <p:nvPr/>
        </p:nvCxnSpPr>
        <p:spPr>
          <a:xfrm>
            <a:off x="919923" y="3843262"/>
            <a:ext cx="0" cy="5446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" name="Google Shape;124;p5"/>
          <p:cNvSpPr txBox="1"/>
          <p:nvPr/>
        </p:nvSpPr>
        <p:spPr>
          <a:xfrm>
            <a:off x="712844" y="3944729"/>
            <a:ext cx="10999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Aceita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1945289" y="2624189"/>
            <a:ext cx="109992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aceita</a:t>
            </a:r>
            <a:endParaRPr/>
          </a:p>
        </p:txBody>
      </p:sp>
      <p:cxnSp>
        <p:nvCxnSpPr>
          <p:cNvPr id="126" name="Google Shape;126;p5"/>
          <p:cNvCxnSpPr/>
          <p:nvPr/>
        </p:nvCxnSpPr>
        <p:spPr>
          <a:xfrm rot="10800000">
            <a:off x="1748731" y="3396727"/>
            <a:ext cx="44802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5"/>
          <p:cNvSpPr/>
          <p:nvPr/>
        </p:nvSpPr>
        <p:spPr>
          <a:xfrm>
            <a:off x="315275" y="4511385"/>
            <a:ext cx="1298713" cy="612648"/>
          </a:xfrm>
          <a:prstGeom prst="flowChartAlternateProcess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/>
          </a:p>
        </p:txBody>
      </p:sp>
      <p:cxnSp>
        <p:nvCxnSpPr>
          <p:cNvPr id="128" name="Google Shape;128;p5"/>
          <p:cNvCxnSpPr/>
          <p:nvPr/>
        </p:nvCxnSpPr>
        <p:spPr>
          <a:xfrm rot="10800000" flipH="1">
            <a:off x="1713379" y="4817709"/>
            <a:ext cx="1063363" cy="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9" name="Google Shape;129;p5"/>
          <p:cNvSpPr txBox="1"/>
          <p:nvPr/>
        </p:nvSpPr>
        <p:spPr>
          <a:xfrm>
            <a:off x="1391467" y="4344110"/>
            <a:ext cx="16764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intermediária</a:t>
            </a:r>
            <a:endParaRPr/>
          </a:p>
        </p:txBody>
      </p:sp>
      <p:cxnSp>
        <p:nvCxnSpPr>
          <p:cNvPr id="130" name="Google Shape;130;p5"/>
          <p:cNvCxnSpPr/>
          <p:nvPr/>
        </p:nvCxnSpPr>
        <p:spPr>
          <a:xfrm rot="10800000">
            <a:off x="3535619" y="3801734"/>
            <a:ext cx="0" cy="51003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1" name="Google Shape;131;p5"/>
          <p:cNvSpPr txBox="1"/>
          <p:nvPr/>
        </p:nvSpPr>
        <p:spPr>
          <a:xfrm>
            <a:off x="3332882" y="3944729"/>
            <a:ext cx="10999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Rejeita</a:t>
            </a:r>
            <a:endParaRPr/>
          </a:p>
        </p:txBody>
      </p:sp>
      <p:cxnSp>
        <p:nvCxnSpPr>
          <p:cNvPr id="132" name="Google Shape;132;p5"/>
          <p:cNvCxnSpPr/>
          <p:nvPr/>
        </p:nvCxnSpPr>
        <p:spPr>
          <a:xfrm rot="10800000" flipH="1">
            <a:off x="4261607" y="4716330"/>
            <a:ext cx="776762" cy="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" name="Google Shape;133;p5"/>
          <p:cNvSpPr txBox="1"/>
          <p:nvPr/>
        </p:nvSpPr>
        <p:spPr>
          <a:xfrm>
            <a:off x="3769172" y="4425140"/>
            <a:ext cx="16764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Aceita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145143" y="4389672"/>
            <a:ext cx="1298713" cy="612648"/>
          </a:xfrm>
          <a:prstGeom prst="flowChartAlternateProcess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6560191" y="4716330"/>
            <a:ext cx="900070" cy="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" name="Google Shape;136;p5"/>
          <p:cNvSpPr/>
          <p:nvPr/>
        </p:nvSpPr>
        <p:spPr>
          <a:xfrm>
            <a:off x="9092048" y="5769652"/>
            <a:ext cx="1309648" cy="939128"/>
          </a:xfrm>
          <a:prstGeom prst="diamond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Reprova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846483" y="5753904"/>
            <a:ext cx="1309648" cy="939128"/>
          </a:xfrm>
          <a:prstGeom prst="diamond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Aprova</a:t>
            </a:r>
            <a:endParaRPr/>
          </a:p>
        </p:txBody>
      </p:sp>
      <p:cxnSp>
        <p:nvCxnSpPr>
          <p:cNvPr id="138" name="Google Shape;138;p5"/>
          <p:cNvCxnSpPr/>
          <p:nvPr/>
        </p:nvCxnSpPr>
        <p:spPr>
          <a:xfrm>
            <a:off x="9092048" y="4716330"/>
            <a:ext cx="61588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139;p5"/>
          <p:cNvCxnSpPr/>
          <p:nvPr/>
        </p:nvCxnSpPr>
        <p:spPr>
          <a:xfrm>
            <a:off x="10725210" y="5076108"/>
            <a:ext cx="717374" cy="6040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0" name="Google Shape;140;p5"/>
          <p:cNvCxnSpPr/>
          <p:nvPr/>
        </p:nvCxnSpPr>
        <p:spPr>
          <a:xfrm flipH="1">
            <a:off x="9886980" y="5076108"/>
            <a:ext cx="817812" cy="6040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1" name="Google Shape;141;p5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Fluxograma de Atividades de Monografia</a:t>
            </a:r>
            <a:endParaRPr/>
          </a:p>
        </p:txBody>
      </p:sp>
      <p:cxnSp>
        <p:nvCxnSpPr>
          <p:cNvPr id="142" name="Google Shape;142;p5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Prazos</a:t>
            </a:r>
            <a:endParaRPr/>
          </a:p>
        </p:txBody>
      </p:sp>
      <p:cxnSp>
        <p:nvCxnSpPr>
          <p:cNvPr id="148" name="Google Shape;148;p6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6"/>
          <p:cNvSpPr txBox="1"/>
          <p:nvPr/>
        </p:nvSpPr>
        <p:spPr>
          <a:xfrm>
            <a:off x="444617" y="1690687"/>
            <a:ext cx="11409027" cy="474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800"/>
              <a:buFont typeface="Arial"/>
              <a:buChar char="•"/>
            </a:pPr>
            <a:r>
              <a:rPr lang="pt-BR" sz="2800" dirty="0">
                <a:solidFill>
                  <a:srgbClr val="212529"/>
                </a:solidFill>
              </a:rPr>
              <a:t>Há três datas importantes:</a:t>
            </a:r>
            <a:endParaRPr sz="2800" dirty="0">
              <a:solidFill>
                <a:srgbClr val="212529"/>
              </a:solidFill>
            </a:endParaRPr>
          </a:p>
          <a:p>
            <a:pPr marL="944881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limite para indicar orientador no sistema;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4881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limite para a submissão da versão intermediária no sistema;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44881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limite para a submissão da versão final no sistema.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datas são definidas pelo coordenador no início do semestre, </a:t>
            </a:r>
            <a:r>
              <a:rPr lang="pt-BR" sz="2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irrevogáveis</a:t>
            </a: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estão disponíveis no Moodle.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Envio da Monografia: entrega intermediária</a:t>
            </a:r>
            <a:endParaRPr/>
          </a:p>
        </p:txBody>
      </p:sp>
      <p:cxnSp>
        <p:nvCxnSpPr>
          <p:cNvPr id="155" name="Google Shape;155;p7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7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duas entregas da Monografia: intermediária e final.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intermediária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não precisa ser acompanhada de versão anônima nem de relatório de similaridade no </a:t>
            </a:r>
            <a:r>
              <a:rPr lang="pt-B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Turnitin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Envio da Monografia: entrega final</a:t>
            </a:r>
            <a:endParaRPr/>
          </a:p>
        </p:txBody>
      </p:sp>
      <p:cxnSp>
        <p:nvCxnSpPr>
          <p:cNvPr id="162" name="Google Shape;162;p8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8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marR="0" lvl="0" indent="-20193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data da </a:t>
            </a:r>
            <a:r>
              <a:rPr lang="pt-BR" sz="2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final</a:t>
            </a: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aluno deve anexar </a:t>
            </a:r>
            <a:r>
              <a:rPr lang="pt-BR" sz="2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 versões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uma com seu nome e uma versão anônima.</a:t>
            </a:r>
            <a:endParaRPr dirty="0"/>
          </a:p>
          <a:p>
            <a:pPr marL="228600" marR="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disso, o aluno deve: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663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erar um relatório de similaridade no site </a:t>
            </a:r>
            <a:r>
              <a:rPr lang="pt-B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Turnitin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(não precisa ser enviado no sistema da FEA)</a:t>
            </a: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663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Enviar formulário concordando com publicação do trabalho na Biblioteca Digital de Teses e Dissertações da USP.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19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</a:t>
            </a: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o relatório e sem o formulário, a monografia não será enviada para a banca!</a:t>
            </a:r>
            <a:endParaRPr dirty="0"/>
          </a:p>
          <a:p>
            <a:pPr marL="228600" marR="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193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instruções para tornar a monografia anônima e para gerar o relatório no </a:t>
            </a:r>
            <a:r>
              <a:rPr lang="pt-B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Turnitin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podem ser encontradas no Moodle.</a:t>
            </a:r>
            <a:endParaRPr dirty="0"/>
          </a:p>
          <a:p>
            <a:pPr marL="228600" marR="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193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existe um número mágico no </a:t>
            </a:r>
            <a:r>
              <a:rPr lang="pt-B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Turnitin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garanta que não exista indício de plágio.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Plágio e Fraude Acadêmica </a:t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9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Segundo o regulamento vigente, uma monografia será considerada plágio se contiver: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Parágrafo ou parágrafos de outrem sem expressa referência ao texto original, ainda que tal referência conste da bibliografia do trabalho;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Tradução de parágrafo ou parágrafos de outrem sem expressa referência ao texto original, ainda que tal referência conste da bibliografia do trabalho;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Violações outras previstas em Lei.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Plágio e Fraude Acadêmica </a:t>
            </a:r>
            <a:r>
              <a:rPr lang="pt-B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(cont.)</a:t>
            </a: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0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Moodle, os alunos têm acesso a diversos links para serviços de detecção de plágio, alguns gratuitos, outros pagos.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serviços devem ser usados pelos alunos e servem para que chequem se, inadvertidamente, estão cometendo algum dos erros mencionados.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disponibilização das ferramentas desobriga a coordenação de supor que casos de plágio podem ser explicados com base no desconhecimento do aluno.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Plágio e Fraude Acadêmica </a:t>
            </a:r>
            <a:r>
              <a:rPr lang="pt-B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(cont.)</a:t>
            </a: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83" name="Google Shape;183;p11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4" name="Google Shape;184;p11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caso de suspeita de plágio ou outra prática indevida de gravidade semelhante, caberá ao avaliador documentar o ocorrido e comunicar o fato ao Coordenador de Monografia.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banca decidir que houve plágio ou prática indevida em grau considerado grave, o aluno deverá ser reprovado com nota zero e um </a:t>
            </a:r>
            <a:r>
              <a:rPr lang="pt-BR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comunicado deve ser encaminhado ao Diretor para a abertura de sindicância</a:t>
            </a: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apuração da falta segundo o Regimento Geral da USP.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banca decidir que houve prática indevida com baixo grau de gravidade, o aluno deve ser reprovado com média inferior a cinco.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FAQ</a:t>
            </a:r>
            <a:endParaRPr/>
          </a:p>
        </p:txBody>
      </p:sp>
      <p:cxnSp>
        <p:nvCxnSpPr>
          <p:cNvPr id="190" name="Google Shape;190;p12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1" name="Google Shape;191;p12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Estou com dificuldades para logar no site. O que devo fazer?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tenha problemas com seu login entre em contato com o STI pelo 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ruel@usp.br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76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Tive que trocar de orientador no meio do semestre fora do prazo. O que devo fazer?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Nesse caso, encaminhe um e-mail para 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monografiaeae@</a:t>
            </a:r>
            <a:r>
              <a:rPr lang="pt-BR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usp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cópia 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rafael.pucci@usp.br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comunicando a mudança e demonstrando a anuência dos orientadores antigos e novos.</a:t>
            </a:r>
            <a:endParaRPr dirty="0"/>
          </a:p>
          <a:p>
            <a:pPr marL="685800" marR="0" lvl="1" indent="-76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Posso escolher um orientador de outra unidade da USP/outro departamento da FEA?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Infelizmente, até o presente momento, o sistema só aceita como orientadores pesquisadores associados ao Departamento de Economia da USP.</a:t>
            </a:r>
            <a:endParaRPr dirty="0"/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242582" y="153192"/>
            <a:ext cx="114936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FAQ</a:t>
            </a:r>
            <a:endParaRPr/>
          </a:p>
        </p:txBody>
      </p:sp>
      <p:cxnSp>
        <p:nvCxnSpPr>
          <p:cNvPr id="197" name="Google Shape;197;p13"/>
          <p:cNvCxnSpPr/>
          <p:nvPr/>
        </p:nvCxnSpPr>
        <p:spPr>
          <a:xfrm>
            <a:off x="242582" y="1208015"/>
            <a:ext cx="11611062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p13"/>
          <p:cNvSpPr txBox="1"/>
          <p:nvPr/>
        </p:nvSpPr>
        <p:spPr>
          <a:xfrm>
            <a:off x="469783" y="1564852"/>
            <a:ext cx="11383861" cy="49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pt-B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consigo ver mais a submissão da monografia após ter feito o envio ou o sistema apresenta alguma instabilidade. O que devo fazer?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Infelizmente, o sistema apresenta instabilidade em alguns momentos, especialmente em períodos de intenso acesso. No entanto, se você fez a submissão antes do prazo, ela foi registrada pelo sistema. Para problemas em relação </a:t>
            </a: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recomendação é entrar em contato com o STI (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ruel@usp.br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que é quem tem o poder de resolver instabilidades. </a:t>
            </a:r>
            <a:endParaRPr dirty="0"/>
          </a:p>
          <a:p>
            <a:pPr marL="685800" marR="0" lvl="1" indent="-228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 os problemas não se limitem ao sistema, escreva para 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monografiaeae@usp.br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cópia 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rafael.pucci@usp</a:t>
            </a:r>
            <a:r>
              <a:rPr lang="pt-BR" sz="24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Office PowerPoint</Application>
  <PresentationFormat>Widescreen</PresentationFormat>
  <Paragraphs>107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do Office</vt:lpstr>
      <vt:lpstr>Apresentação do PowerPoint</vt:lpstr>
      <vt:lpstr>Informações gerais</vt:lpstr>
      <vt:lpstr>Coordenação</vt:lpstr>
      <vt:lpstr>Sistema e Gestão das Monografias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Claudio Lucinda</dc:creator>
  <cp:lastModifiedBy>Rafael Pucci</cp:lastModifiedBy>
  <cp:revision>1</cp:revision>
  <dcterms:created xsi:type="dcterms:W3CDTF">2020-01-07T15:22:27Z</dcterms:created>
  <dcterms:modified xsi:type="dcterms:W3CDTF">2025-03-11T12:54:31Z</dcterms:modified>
</cp:coreProperties>
</file>